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4" r:id="rId4"/>
    <p:sldId id="258" r:id="rId5"/>
    <p:sldId id="273" r:id="rId6"/>
    <p:sldId id="274" r:id="rId7"/>
    <p:sldId id="259" r:id="rId8"/>
    <p:sldId id="276" r:id="rId9"/>
    <p:sldId id="275" r:id="rId10"/>
    <p:sldId id="284" r:id="rId11"/>
    <p:sldId id="261" r:id="rId12"/>
    <p:sldId id="277" r:id="rId13"/>
    <p:sldId id="280" r:id="rId14"/>
    <p:sldId id="281" r:id="rId15"/>
    <p:sldId id="282" r:id="rId16"/>
    <p:sldId id="283" r:id="rId17"/>
    <p:sldId id="278" r:id="rId18"/>
    <p:sldId id="279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A4F5-B9E5-44F7-83F8-F093209D9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5C452-C2FF-4E97-9371-DB09FF1C5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49D1E-E8F1-46EB-9EF0-68F59356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74F6-7563-46AA-91D5-FC0DF50E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0687-189A-4715-9085-F1A0E345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6BEC-030A-4E6D-9969-92EE75E5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6195B-A102-441D-AB65-549064858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AC6F-26F4-4751-A032-A4B37998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46025-2537-4556-A76A-2BAB1450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206D1-BD2D-44D5-8059-780C40F1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9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5A34-8783-4D4C-BB3E-77884101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4A547-CC48-4861-9FBC-3CE0C99F1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E8568-3879-48D6-8C00-EEDEA451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32B22-67E7-4998-B79E-C6955AAE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5FF4C-342F-46D7-811D-72F9969B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9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E841-E5B4-43DD-86D7-3204C684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0581-72C5-4C86-9114-96483F830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80655-4B08-477E-849C-11C8DE873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DF952-35EE-41D4-B3AF-038D59CB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EB505-5818-4156-A303-A88A5CBB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E5833-A747-47A0-B3ED-6C83ACDC6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95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360E-67B2-45B8-8E75-02239C18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2A64C-4B0C-4E1F-A884-8D59AC57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FECC5-7095-4F96-8C95-BD90EC661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49CCA-44F9-4E1E-8ECD-88AD6A83B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564B4-E97F-4CBC-A9C8-11AE4624F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ED60C-B6A8-40E4-A53C-B9E09CB1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9983C-2723-430D-9F3A-72DDF417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53EEF-FD56-4F9A-8C7A-7CC15D6D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10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D9CA-93EA-4384-AA88-2E0F70E6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EDB73-CADB-4302-A8E9-2DC8BC85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C5495-49B0-4DDF-8367-42894734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CBD5F-0C63-4589-8C13-F1D44644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6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1A8D0A-C4FC-45AB-9DC7-4FE06154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48770-AC88-4351-BD0A-FD85FC2E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672D7-3202-4ED1-A0DF-8FD10EF4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37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1FA6-CFFC-491D-A0BB-478FCFFE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ADAC0-408B-48E8-86D5-E4067C4D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32173-59B4-47E0-825F-5E204E517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67700-7826-4591-AA61-BCE01313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6418C-F0E9-493B-BB3C-12FC2CE6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0DD37-2BF5-43BE-8959-B46C14EC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27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A147-9C25-4DBB-A014-76786D27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5716-C6F3-430B-9458-D63B75316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D33E5-D2B1-44A0-8CA9-0534A8A9E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35238-FAFB-480A-8261-E991E5513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E52CA-477D-4A0A-8C9D-6CCB377B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D5AFC-5842-41A7-8485-70AFB0F5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70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6264-E29F-4375-AEF5-F6A8F679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568E9-F996-4C1E-AE88-834021DEE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CBDF-D041-4E60-B251-040ECF41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9EEC6-4CCE-463B-B90F-B0499038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D0994-D2E1-45B4-869F-EE4C6595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84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F548DB-F64D-4DAD-A0C8-D303251E6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417CA-4C66-41B5-AC33-3BAA3BF53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2B2A-EB82-4284-96AE-09A4477E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C5F-1176-4886-8939-41FA7943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80B43-414A-4992-BE10-94EB7B6C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30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8861-267B-454F-B55B-F15FBD50D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65B04-D853-4438-934F-70DEF0C32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415C9-2DF8-4DB5-AAA0-D6D86BFD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A0C7-334E-45B4-BD7C-42416459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C2BE7-AD33-4895-94E8-AABAA95C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46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A467-FBAF-4FB4-A52D-0D5A2057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44132-CDAE-44B9-890E-605D512F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FD623-A2D1-4D43-86EF-2D6A650A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456C-2BCD-4330-B8BD-A1723490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8EDBE-7E50-49E1-AFE0-69F8C432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75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0F2C-C556-415D-A216-BEA0E094E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B855C-4D6C-4FEF-93AA-BF4D8E6EE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4FAE8-BE03-42C9-B8CE-6661BE75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F4789-A98C-4580-97DB-E9A5A317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43BA-A667-4C0A-90F1-7F697CAE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84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096F-F5DA-49BB-99F9-460B1D87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5368-689A-47B8-8665-376AA3C29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DFF81-C4E3-4E9F-A935-7D8D5BC52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0E4A-1159-442E-81BA-55B195DF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B9730-FD4F-4506-9D25-89CF8381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22CDF-7EE3-4F4D-8A3B-4B3D31E9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60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3A7A-BA0E-42AD-A892-BDDD6685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A353D-2246-44C6-9D55-60B9E3FB9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13F2-0CA2-49C1-8314-1C88AD4D5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7B004-62B3-4A1A-96EC-32B9155F6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6BD26-BAB4-4D86-B58D-433F856C7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D98B1-F880-49B5-9194-581D7854B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32BD6-4DF2-427B-9D16-D52DBC72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604A6B-E3FE-4830-AE8D-CB16D230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97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3800-4727-4059-B2F5-D3BD82DD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85550-DB47-4D53-B291-DEB2E24C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BBA4C-BF66-4145-8C95-4FBFB28E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B0061-40E5-40DA-8CAD-56D7CDF6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96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1C212-CC7F-40B6-8A0D-FFCD46B0C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B5E33-3D84-42A3-92FE-B55F5467D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6F742-43CA-4F40-84F6-837824C5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61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5272-E2D7-4060-AEC3-3858BA23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F7D47-D27C-4AF5-A110-08EE39648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23D4B-57ED-46B2-B573-4EA9935DA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21CE3-12BE-4B50-956D-1E42E051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77CBF-32B8-40B2-8591-EB2BFA87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31EAE-EEFC-44E5-AF0E-240ABD14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99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4D5A-0659-44E9-BE96-480DA08C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13A8D-D7E7-4B2D-8D05-EFEE6989E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23B8F-B645-4794-94F3-C13A08ECB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E9985-0AD6-4002-9182-8768F800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54357-3CBC-4BE0-88D7-9419B398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3EDDB-5E36-47EF-B018-5860B826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2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A27F-600E-493C-9332-4C71A97D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16CB-12E7-4E39-9422-6308F374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05F7B-3805-4FD1-9727-4D372850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31D2A-FC45-4712-9CA0-628179EB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09F43-53B0-4D34-919D-65402A0B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501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95683-DA70-4C0F-A82D-BD21855A6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8A46A-DA4F-43A0-968C-A45CB56B8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8A33F-A1CA-4B22-ACA7-B63BF09E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3026-29BE-46F5-AED6-616A24E5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82663-5A87-4B57-98C7-7FE4EDB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5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32E98-B870-47C8-B382-006DA789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2F424-72F9-49F8-BB1E-58B9C1EE5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42FE6-7449-4460-85A5-2A061024A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DB7D2-4BE7-404A-9A81-2617C8CA2523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4D129-E6A1-4E47-81F1-CFF2C2A78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1D4AF-E637-409D-A739-9F473CB47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FBA1A-2134-485F-8D4E-D7ED40A6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6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3FB42-CD55-43A5-93B0-D154DA08F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7E1D2-0A28-4B8B-A668-6CD3FFFD3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C82A5-8CA9-4BE4-ABE8-D20DF42E6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4720B-73B5-4623-B588-8ED2E6034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89EC6-5595-4A89-9FAD-856D0D36B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2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vfQq7E8X4Q?si=kz_6UMoxtArsOUr3" TargetMode="External"/><Relationship Id="rId2" Type="http://schemas.openxmlformats.org/officeDocument/2006/relationships/hyperlink" Target="https://github.com/chittipriya0010/medical-report-analyser/blob/main/app.py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pacy.io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0BFA9322-5FDE-EE9D-161B-1031B4C0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093" y="-2488"/>
            <a:ext cx="7159815" cy="16293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C794E1-067C-91DC-3AA1-A1C5ABEF60EA}"/>
              </a:ext>
            </a:extLst>
          </p:cNvPr>
          <p:cNvSpPr txBox="1"/>
          <p:nvPr/>
        </p:nvSpPr>
        <p:spPr>
          <a:xfrm>
            <a:off x="1188604" y="1779409"/>
            <a:ext cx="981479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HealthScanAI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Dissect Medical Reports with AI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BADDBF-A5E1-1A95-ADFD-6FF2D7D1C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109983"/>
              </p:ext>
            </p:extLst>
          </p:nvPr>
        </p:nvGraphicFramePr>
        <p:xfrm>
          <a:off x="2992046" y="3684455"/>
          <a:ext cx="6207908" cy="18216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3954">
                  <a:extLst>
                    <a:ext uri="{9D8B030D-6E8A-4147-A177-3AD203B41FA5}">
                      <a16:colId xmlns:a16="http://schemas.microsoft.com/office/drawing/2014/main" val="2168846367"/>
                    </a:ext>
                  </a:extLst>
                </a:gridCol>
                <a:gridCol w="3103954">
                  <a:extLst>
                    <a:ext uri="{9D8B030D-6E8A-4147-A177-3AD203B41FA5}">
                      <a16:colId xmlns:a16="http://schemas.microsoft.com/office/drawing/2014/main" val="2578618339"/>
                    </a:ext>
                  </a:extLst>
                </a:gridCol>
              </a:tblGrid>
              <a:tr h="4554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NEHA BITLA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(23106090)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539082"/>
                  </a:ext>
                </a:extLst>
              </a:tr>
              <a:tr h="4554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DHAIRYA DIXIT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(23106108)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328611"/>
                  </a:ext>
                </a:extLst>
              </a:tr>
              <a:tr h="455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SHASHANK IYER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(23106056)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563188"/>
                  </a:ext>
                </a:extLst>
              </a:tr>
              <a:tr h="45540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AYUSH DUBEY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</a:rPr>
                        <a:t>(23106059)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B88A52-9C4B-8118-DD23-FEBA2051904B}"/>
              </a:ext>
            </a:extLst>
          </p:cNvPr>
          <p:cNvSpPr txBox="1"/>
          <p:nvPr/>
        </p:nvSpPr>
        <p:spPr>
          <a:xfrm>
            <a:off x="3404865" y="5842337"/>
            <a:ext cx="53822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Adesh Hardas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B4876-F86A-4852-89EB-8350BA56EF25}"/>
              </a:ext>
            </a:extLst>
          </p:cNvPr>
          <p:cNvSpPr txBox="1"/>
          <p:nvPr/>
        </p:nvSpPr>
        <p:spPr>
          <a:xfrm>
            <a:off x="5260041" y="3193372"/>
            <a:ext cx="167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Mini Project by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0F62-7871-8F1A-4E26-7EF04FFA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A46D8-A4A5-6E02-2268-5B6D99CA8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784"/>
            <a:ext cx="5777753" cy="481777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existing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 existing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Workflow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Methodologies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3752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E8AE-AA5B-5721-3E92-A913CD0C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41FC-3148-2651-D98D-C636D5787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820"/>
            <a:ext cx="10515600" cy="499596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reports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a crucial role in modern healthcare, helping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health conditions and guide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decisions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these reports are often filled with technical terms and complex ranges that make them difficult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interpret. This creates a communication gap—patients struggle to understand their results, while doctors face time constraints in explaining every detail.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Report Analyzer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this gap by simplifying complex data into clear, personalized, and patient-friendly insights.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reports are critical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healthcare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filled with technical terms and complex ranges.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struggle to interpret results without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guidance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face time constraints in explaining details.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simple,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6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646A9-8DA9-1706-EAFB-B96A21A7C1F5}"/>
              </a:ext>
            </a:extLst>
          </p:cNvPr>
          <p:cNvSpPr txBox="1"/>
          <p:nvPr/>
        </p:nvSpPr>
        <p:spPr>
          <a:xfrm>
            <a:off x="149529" y="107762"/>
            <a:ext cx="11922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3C0342-D515-E5CC-E452-6F9DF5209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58967"/>
              </p:ext>
            </p:extLst>
          </p:nvPr>
        </p:nvGraphicFramePr>
        <p:xfrm>
          <a:off x="149527" y="906792"/>
          <a:ext cx="11922866" cy="5852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2650">
                  <a:extLst>
                    <a:ext uri="{9D8B030D-6E8A-4147-A177-3AD203B41FA5}">
                      <a16:colId xmlns:a16="http://schemas.microsoft.com/office/drawing/2014/main" val="1113948165"/>
                    </a:ext>
                  </a:extLst>
                </a:gridCol>
                <a:gridCol w="2741030">
                  <a:extLst>
                    <a:ext uri="{9D8B030D-6E8A-4147-A177-3AD203B41FA5}">
                      <a16:colId xmlns:a16="http://schemas.microsoft.com/office/drawing/2014/main" val="1598971428"/>
                    </a:ext>
                  </a:extLst>
                </a:gridCol>
                <a:gridCol w="4060531">
                  <a:extLst>
                    <a:ext uri="{9D8B030D-6E8A-4147-A177-3AD203B41FA5}">
                      <a16:colId xmlns:a16="http://schemas.microsoft.com/office/drawing/2014/main" val="806129791"/>
                    </a:ext>
                  </a:extLst>
                </a:gridCol>
                <a:gridCol w="2608655">
                  <a:extLst>
                    <a:ext uri="{9D8B030D-6E8A-4147-A177-3AD203B41FA5}">
                      <a16:colId xmlns:a16="http://schemas.microsoft.com/office/drawing/2014/main" val="2070064543"/>
                    </a:ext>
                  </a:extLst>
                </a:gridCol>
              </a:tblGrid>
              <a:tr h="5527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Conference / Journal Details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 Points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Improvements Proposed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206984"/>
                  </a:ext>
                </a:extLst>
              </a:tr>
              <a:tr h="14434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Natural Language Processing of Lifestyle Modification Documentation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Health Informatics Journal, 2020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Applies NLP to clinical text for identifying patient 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behaviors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health interventions; focuses on contextual classification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 semantic and contextual classification to convert extracted report data into actionable medical insights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497794"/>
                  </a:ext>
                </a:extLst>
              </a:tr>
              <a:tr h="12372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Exploring Current Practices and Challenges of HIPAA Compliance in Software Engineering: Scoping Review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Open Journal of Systems Engineering, 2024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Reviews implementation of HIPAA compliance in healthcare software — encryption, role-based access, and audit trails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Integrate HIPAA-compliant encryption, audit logs, and access control for PHI handling within our system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919348"/>
                  </a:ext>
                </a:extLst>
              </a:tr>
              <a:tr h="12372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Extraction from Images Using Tesseract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Techniques for Automation and Industrial Applications Wiley, 2024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Details Tesseract OCR internals including preprocessing, thresholding, and skew correction for improved accuracy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Build a hybrid OCR pipeline that dynamically switches between native and Tesseract modes based on confidence scores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832280"/>
                  </a:ext>
                </a:extLst>
              </a:tr>
              <a:tr h="13819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Simplifying Medical Report: A Novel Approach to Medical Reporting Using OCR Technology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Introduces OCR-based conversion of medical reports into structured digital data; uses section segmentation and post-processing for error correction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Enhance layout analysis for complex, multi-format reports and integrate adaptive OCR correction with ML models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58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56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6306-F080-625D-8F4D-55EF907E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2377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in existing systems: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A58BD-EFC0-91A6-3562-AB85EB06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391"/>
            <a:ext cx="10515600" cy="439743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Explainability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Patients may find AI-generated explanations difficult to trust without doctor validation.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Security Risks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Handling sensitive health data requires strict compliance with privacy regulations.</a:t>
            </a:r>
          </a:p>
        </p:txBody>
      </p:sp>
    </p:spTree>
    <p:extLst>
      <p:ext uri="{BB962C8B-B14F-4D97-AF65-F5344CB8AC3E}">
        <p14:creationId xmlns:p14="http://schemas.microsoft.com/office/powerpoint/2010/main" val="324351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E8AE-AA5B-5721-3E92-A913CD0C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43" y="29007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41FC-3148-2651-D98D-C636D5787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43" y="1838913"/>
            <a:ext cx="11377914" cy="340345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struggle to understand complex medical reports,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time to explain every detail. Existing tools don't balance simplicity and accuracy, leaving a gap in clear interpretation. Create a system that automatically analyzes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reports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highlights abnormalities, and provides personalized, easy-to-understand insights, especially in remote or resource-limited settings.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50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E8AE-AA5B-5721-3E92-A913CD0C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7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41FC-3148-2651-D98D-C636D5787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46713"/>
            <a:ext cx="5257800" cy="492964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Handling: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user input (either PDF medical reports or text-based symptoms) through a Flask/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 &amp; Preprocessing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PDF is uploaded, text is extracted using PyPDF2 and Poppler.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text is then cleaned and standardized (using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further analysis.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Risk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pre-trained ML models (Logistic Regression, Random Forest,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predict potential diseases based on the extracted features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E62A71-C587-4E91-9E8D-9AB8C086D076}"/>
              </a:ext>
            </a:extLst>
          </p:cNvPr>
          <p:cNvSpPr txBox="1">
            <a:spLocks/>
          </p:cNvSpPr>
          <p:nvPr/>
        </p:nvSpPr>
        <p:spPr>
          <a:xfrm>
            <a:off x="5885456" y="1446713"/>
            <a:ext cx="5674822" cy="49296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NLP-Based Analysis &amp; Recommendations: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NLP techniques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used for entity recognition and disease mapping, followed by generating personalized health recommendations and a health score.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Results, user data, and reports are stored in an SQLite database; final predictions and recommendations are sent back to the user via the Flask API.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381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CFFEDA-5DF7-D513-8872-A9749D58A9CC}"/>
              </a:ext>
            </a:extLst>
          </p:cNvPr>
          <p:cNvSpPr txBox="1"/>
          <p:nvPr/>
        </p:nvSpPr>
        <p:spPr>
          <a:xfrm>
            <a:off x="436981" y="335545"/>
            <a:ext cx="11318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Workflow: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6FBBE-F7EE-C51B-E5EF-6A3B842E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81" y="1497330"/>
            <a:ext cx="11318033" cy="442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8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69E0C6-0C00-6A4D-179A-24195F8EF5EA}"/>
              </a:ext>
            </a:extLst>
          </p:cNvPr>
          <p:cNvSpPr txBox="1"/>
          <p:nvPr/>
        </p:nvSpPr>
        <p:spPr>
          <a:xfrm>
            <a:off x="375920" y="223520"/>
            <a:ext cx="513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2F056-8EEB-D093-A883-59482B373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0" y="843280"/>
            <a:ext cx="11348720" cy="60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8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E8AE-AA5B-5721-3E92-A913CD0C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3297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Methodologies: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C84C02-2480-47B4-B548-DD7A402C6F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55284"/>
            <a:ext cx="10515600" cy="3993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Flask 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scikit-learn,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PyPDF2, pdf2image, Poppler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SQLite3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pickle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339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EDE5A-0F40-401A-BBBD-762FD5AF3D80}"/>
              </a:ext>
            </a:extLst>
          </p:cNvPr>
          <p:cNvSpPr txBox="1"/>
          <p:nvPr/>
        </p:nvSpPr>
        <p:spPr>
          <a:xfrm>
            <a:off x="475861" y="270588"/>
            <a:ext cx="11103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4D7249D-005E-C167-D613-A833D45497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760237" cy="376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62842-243B-F5CE-D399-E17460E4E27D}"/>
              </a:ext>
            </a:extLst>
          </p:cNvPr>
          <p:cNvSpPr txBox="1"/>
          <p:nvPr/>
        </p:nvSpPr>
        <p:spPr>
          <a:xfrm>
            <a:off x="5017625" y="6138245"/>
            <a:ext cx="1678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</a:t>
            </a:r>
            <a:endParaRPr lang="en-IN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06F37-DC4F-CE73-17C3-9B33A0515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9" y="1032364"/>
            <a:ext cx="9805572" cy="494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5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F8C54-84CD-C609-FE83-F946778988CA}"/>
              </a:ext>
            </a:extLst>
          </p:cNvPr>
          <p:cNvSpPr txBox="1"/>
          <p:nvPr/>
        </p:nvSpPr>
        <p:spPr>
          <a:xfrm>
            <a:off x="401255" y="150469"/>
            <a:ext cx="113894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F5F30-D3FF-D676-ABD6-08AD73257243}"/>
              </a:ext>
            </a:extLst>
          </p:cNvPr>
          <p:cNvSpPr txBox="1"/>
          <p:nvPr/>
        </p:nvSpPr>
        <p:spPr>
          <a:xfrm>
            <a:off x="4490977" y="5498381"/>
            <a:ext cx="3032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Page</a:t>
            </a:r>
            <a:endParaRPr lang="en-IN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963FC-4F71-F21B-407D-F52A2057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64" y="1120877"/>
            <a:ext cx="5783235" cy="3864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968936-E47C-AB37-27B6-37A0C9E57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4" y="1120876"/>
            <a:ext cx="5547260" cy="386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5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A506D-E6C9-7DE0-A11D-479F0F5810B0}"/>
              </a:ext>
            </a:extLst>
          </p:cNvPr>
          <p:cNvSpPr txBox="1"/>
          <p:nvPr/>
        </p:nvSpPr>
        <p:spPr>
          <a:xfrm>
            <a:off x="324090" y="162045"/>
            <a:ext cx="11320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FAD10-3491-D2DE-297A-B7793B99EE7C}"/>
              </a:ext>
            </a:extLst>
          </p:cNvPr>
          <p:cNvSpPr txBox="1"/>
          <p:nvPr/>
        </p:nvSpPr>
        <p:spPr>
          <a:xfrm>
            <a:off x="4861988" y="5674094"/>
            <a:ext cx="1617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Page</a:t>
            </a:r>
            <a:endParaRPr lang="en-IN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195DF-B40D-0B11-D708-01C98B635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894735"/>
            <a:ext cx="11250841" cy="460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0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7F590-CDEE-90A3-4B0C-6230E4CE2308}"/>
              </a:ext>
            </a:extLst>
          </p:cNvPr>
          <p:cNvSpPr txBox="1"/>
          <p:nvPr/>
        </p:nvSpPr>
        <p:spPr>
          <a:xfrm>
            <a:off x="354957" y="185195"/>
            <a:ext cx="114820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EB647-183D-B2B1-B93F-7F211D8F1299}"/>
              </a:ext>
            </a:extLst>
          </p:cNvPr>
          <p:cNvSpPr txBox="1"/>
          <p:nvPr/>
        </p:nvSpPr>
        <p:spPr>
          <a:xfrm>
            <a:off x="5274196" y="6111433"/>
            <a:ext cx="2011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History</a:t>
            </a:r>
            <a:endParaRPr lang="en-IN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462E6-97A8-7C7A-3025-2F3DC0737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0" y="845574"/>
            <a:ext cx="11061290" cy="526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92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2140E-3649-EA17-B8B4-8DD8F395B7C3}"/>
              </a:ext>
            </a:extLst>
          </p:cNvPr>
          <p:cNvSpPr txBox="1"/>
          <p:nvPr/>
        </p:nvSpPr>
        <p:spPr>
          <a:xfrm>
            <a:off x="196770" y="196770"/>
            <a:ext cx="116094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CC6EC-FDEA-53D2-F236-2087B39F3948}"/>
              </a:ext>
            </a:extLst>
          </p:cNvPr>
          <p:cNvSpPr txBox="1"/>
          <p:nvPr/>
        </p:nvSpPr>
        <p:spPr>
          <a:xfrm>
            <a:off x="5050839" y="5992762"/>
            <a:ext cx="1901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Analysis</a:t>
            </a:r>
            <a:endParaRPr lang="en-IN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DCE65-215F-BFB2-174A-B754FEA1F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" y="865238"/>
            <a:ext cx="11491545" cy="504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60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EDE5A-0F40-401A-BBBD-762FD5AF3D80}"/>
              </a:ext>
            </a:extLst>
          </p:cNvPr>
          <p:cNvSpPr txBox="1"/>
          <p:nvPr/>
        </p:nvSpPr>
        <p:spPr>
          <a:xfrm>
            <a:off x="391884" y="420067"/>
            <a:ext cx="111034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4D7249D-005E-C167-D613-A833D45497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760237" cy="376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5BBE8-0D37-A398-E391-8AC5843B540B}"/>
              </a:ext>
            </a:extLst>
          </p:cNvPr>
          <p:cNvSpPr txBox="1"/>
          <p:nvPr/>
        </p:nvSpPr>
        <p:spPr>
          <a:xfrm>
            <a:off x="291296" y="1524114"/>
            <a:ext cx="11609407" cy="5704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Report Analyzer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healthcare more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patient-centered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complex medical reports.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accurate, and actionable insights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literacy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or resource-limited settings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burden on doctors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minimizing the need for detailed explanations.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expertise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patient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patient 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outcomes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129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EDE5A-0F40-401A-BBBD-762FD5AF3D80}"/>
              </a:ext>
            </a:extLst>
          </p:cNvPr>
          <p:cNvSpPr txBox="1"/>
          <p:nvPr/>
        </p:nvSpPr>
        <p:spPr>
          <a:xfrm>
            <a:off x="497736" y="189090"/>
            <a:ext cx="11103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4D7249D-005E-C167-D613-A833D45497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760237" cy="376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20E0F-554D-E736-34E0-8871260BD379}"/>
              </a:ext>
            </a:extLst>
          </p:cNvPr>
          <p:cNvSpPr txBox="1"/>
          <p:nvPr/>
        </p:nvSpPr>
        <p:spPr>
          <a:xfrm>
            <a:off x="590835" y="880477"/>
            <a:ext cx="1101033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https://github.com/chittipriya0010/medical-report-analyser/blob/main/app.py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https://youtu.be/MvfQq7E8X4Q?si=kz_6UMoxtArsOUr3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https://spacy.io/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Shoenbill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K, Song Y, Gress L, Johnson H, Smith M, Mendonca EA. Natural language processing of lifestyle modification documentation. Health Informatics J. 2020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Santosh Kumar; Nilesh Kumar Sharma; Mridul Sharma; Nikita Agrawal, "Text Extraction from Images Using Tesseract," in Deep Learning Techniques for Automation and Industrial Applications , Wiley, 2024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Elkourdi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Wei, L. Xiao, Z. YU and O. Asan, "Exploring Current Practices and Challenges of HIPAA Compliance in Software Engineering: Scoping Review," in IEEE Open Journal of Systems Engineering, vol. 2, 2024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Sett and A. V. Singh, "Applying Natural Language Processing in Healthcare Using Data Science," 2024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Verma, S. Pandey, S. Awasthi and S. Shukla, "Simplifying Medical Report: A Novel Approach to Medical Reporting Using OCR Technology," 2025</a:t>
            </a:r>
          </a:p>
        </p:txBody>
      </p:sp>
    </p:spTree>
    <p:extLst>
      <p:ext uri="{BB962C8B-B14F-4D97-AF65-F5344CB8AC3E}">
        <p14:creationId xmlns:p14="http://schemas.microsoft.com/office/powerpoint/2010/main" val="3272036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1E2B-A43B-436A-A3B7-D04A5DEB5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0" y="250205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21811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1019</Words>
  <Application>Microsoft Office PowerPoint</Application>
  <PresentationFormat>Widescreen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Presentation Outline:</vt:lpstr>
      <vt:lpstr>Introduction:</vt:lpstr>
      <vt:lpstr>PowerPoint Presentation</vt:lpstr>
      <vt:lpstr>Limitations in existing systems: </vt:lpstr>
      <vt:lpstr>Problem Statement:</vt:lpstr>
      <vt:lpstr>System Design:</vt:lpstr>
      <vt:lpstr>PowerPoint Presentation</vt:lpstr>
      <vt:lpstr>PowerPoint Presentation</vt:lpstr>
      <vt:lpstr>Technologies &amp; Methodologies: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 Ansari</dc:creator>
  <cp:lastModifiedBy>Dhairya Dixit</cp:lastModifiedBy>
  <cp:revision>94</cp:revision>
  <dcterms:created xsi:type="dcterms:W3CDTF">2025-07-09T16:36:38Z</dcterms:created>
  <dcterms:modified xsi:type="dcterms:W3CDTF">2025-10-10T03:51:12Z</dcterms:modified>
</cp:coreProperties>
</file>